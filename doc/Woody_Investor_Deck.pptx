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Daromad</c:v>
                </c:pt>
              </c:strCache>
            </c:strRef>
          </c:tx>
          <c:spPr>
            <a:solidFill>
              <a:srgbClr val="BC6E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Yil 1</c:v>
                  </c:pt>
                  <c:pt idx="1">
                    <c:v>Yil 2</c:v>
                  </c:pt>
                  <c:pt idx="2">
                    <c:v>Yil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</c:v>
                </c:pt>
                <c:pt idx="1">
                  <c:v>320</c:v>
                </c:pt>
                <c:pt idx="2">
                  <c:v>1350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Xarajatlar</c:v>
                </c:pt>
              </c:strCache>
            </c:strRef>
          </c:tx>
          <c:spPr>
            <a:solidFill>
              <a:srgbClr val="6E63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Yil 1</c:v>
                  </c:pt>
                  <c:pt idx="1">
                    <c:v>Yil 2</c:v>
                  </c:pt>
                  <c:pt idx="2">
                    <c:v>Yil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110</c:v>
                </c:pt>
                <c:pt idx="1">
                  <c:v>340</c:v>
                </c:pt>
                <c:pt idx="2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FE7D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"/>
          <c:min val="0"/>
        </c:scaling>
        <c:delete val="0"/>
        <c:axPos val="l"/>
        <c:majorGridlines>
          <c:spPr>
            <a:ln w="6350" cap="flat">
              <a:solidFill>
                <a:srgbClr val="3A322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C9BEB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C9BEB2"/>
                    </a:solidFill>
                    <a:latin typeface="Arial"/>
                  </a:rPr>
                  <a:t>ming $ (USD)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BEB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00"/>
      </c:valAx>
      <c:spPr>
        <a:solidFill>
          <a:srgbClr val="1C1A18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EFE7D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C1A1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291840"/>
            <a:ext cx="4937760" cy="4937760"/>
          </a:xfrm>
          <a:prstGeom prst="ellipse">
            <a:avLst/>
          </a:prstGeom>
          <a:solidFill>
            <a:srgbClr val="97502F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023360"/>
            <a:ext cx="3291840" cy="3291840"/>
          </a:xfrm>
          <a:prstGeom prst="ellipse">
            <a:avLst/>
          </a:prstGeom>
          <a:solidFill>
            <a:srgbClr val="BC6E4D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INVESTORLAR UCHUN TAQDIMOT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32588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Woody</a:t>
            </a:r>
            <a:endParaRPr lang="en-US" sz="104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FE7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Mebel Marketplace · O'zbekiston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66928" y="36118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9B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mebelga ixtisoslashgan, ishonchli ikki tomonlama onlayn-platforma — xaridor va sotuvchini bir joyda bog'laydi.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562356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29231F"/>
          </a:solidFill>
          <a:ln w="12700">
            <a:solidFill>
              <a:srgbClr val="BC6E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5623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bosqichi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32888" y="56235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9231F"/>
          </a:solidFill>
          <a:ln w="12700">
            <a:solidFill>
              <a:srgbClr val="4A42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56235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50224" y="877824"/>
            <a:ext cx="2386090" cy="5102352"/>
          </a:xfrm>
          <a:prstGeom prst="roundRect">
            <a:avLst>
              <a:gd name="adj" fmla="val 57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88900" dir="5400000">
              <a:srgbClr val="171513">
                <a:alpha val="24000"/>
              </a:srgbClr>
            </a:outerShdw>
          </a:effectLst>
        </p:spPr>
      </p:sp>
      <p:pic>
        <p:nvPicPr>
          <p:cNvPr id="14" name="Image 0" descr="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960120"/>
            <a:ext cx="2221498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B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Mebel xaridi hali ham oflayn, tarqoq va ishonchsiz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 mebel asosan bozor, ko'rgazma zali va Instagram orqali sotiladi — yagona, ishonchli raqamli kanal yo'q.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358384" cy="3840480"/>
          </a:xfrm>
          <a:prstGeom prst="roundRect">
            <a:avLst>
              <a:gd name="adj" fmla="val 2381"/>
            </a:avLst>
          </a:prstGeom>
          <a:solidFill>
            <a:srgbClr val="FBF4EE"/>
          </a:solidFill>
          <a:ln w="12700">
            <a:solidFill>
              <a:srgbClr val="EAE0D7"/>
            </a:solidFill>
            <a:prstDash val="solid"/>
          </a:ln>
          <a:effectLst>
            <a:outerShdw sx="100000" sy="100000" kx="0" ky="0" algn="bl" rotWithShape="0" blurRad="101600" dist="38100" dir="5400000">
              <a:srgbClr val="17151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91072" y="2331720"/>
            <a:ext cx="5358384" cy="3840480"/>
          </a:xfrm>
          <a:prstGeom prst="roundRect">
            <a:avLst>
              <a:gd name="adj" fmla="val 2381"/>
            </a:avLst>
          </a:prstGeom>
          <a:solidFill>
            <a:srgbClr val="FBF4EE"/>
          </a:solidFill>
          <a:ln w="12700">
            <a:solidFill>
              <a:srgbClr val="EAE0D7"/>
            </a:solidFill>
            <a:prstDash val="solid"/>
          </a:ln>
          <a:effectLst>
            <a:outerShdw sx="100000" sy="100000" kx="0" ky="0" algn="bl" rotWithShape="0" blurRad="101600" dist="38100" dir="5400000">
              <a:srgbClr val="17151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2624328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5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Xaridorlar uchun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56832" y="2624328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5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Sotuvchilar uchun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2688" y="3246120"/>
            <a:ext cx="512064" cy="512064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066" y="3389498"/>
            <a:ext cx="225308" cy="2253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320954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Solishtirish qiyin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645920" y="352044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Narx, sifat va variantlar tarqoq — yagona joyda taqqoslab bo'lmaydi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32688" y="4178808"/>
            <a:ext cx="512064" cy="512064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066" y="4322186"/>
            <a:ext cx="225308" cy="2253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45920" y="4142232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 yo'q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645920" y="4453128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Sharhlar, reyting va kafolat yo'q — "ko'rmasdan" sotib olish xavfli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932688" y="5111496"/>
            <a:ext cx="512064" cy="512064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66" y="5254874"/>
            <a:ext cx="225308" cy="2253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507492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Noaniq xizmat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645920" y="5385816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Yetkazib berish, montaj va kafolat sotuvchidan-sotuvchiga har xil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656832" y="3246120"/>
            <a:ext cx="512064" cy="512064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210" y="3389498"/>
            <a:ext cx="225308" cy="2253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70064" y="320954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Vitrina yo'q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370064" y="352044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Kichik usta va brendlar Instagram/Telegram'ga bog'liq — barqaror do'kon yo'q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656832" y="4178808"/>
            <a:ext cx="512064" cy="512064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210" y="4322186"/>
            <a:ext cx="225308" cy="2253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70064" y="4142232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Tartibsiz boshqaruv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7370064" y="4453128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Buyurtma, mahsulot va mijozni qo'lda, daftar/chat orqali yuritish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656832" y="5111496"/>
            <a:ext cx="512064" cy="512064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210" y="5254874"/>
            <a:ext cx="225308" cy="2253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370064" y="507492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Qimmat jalb qilish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7370064" y="5385816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mijozga chiqish tasodifiy va reklama qimmat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66928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5943600" cy="5943600"/>
          </a:xfrm>
          <a:prstGeom prst="ellipse">
            <a:avLst/>
          </a:prstGeom>
          <a:solidFill>
            <a:srgbClr val="97502F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IMKONIYATI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7782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Tez o'sayotgan raqamli bozor, deyarli bo'sh nisha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29231F"/>
          </a:solidFill>
          <a:ln w="12700">
            <a:solidFill>
              <a:srgbClr val="3C34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825496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300" b="1" dirty="0">
                <a:solidFill>
                  <a:srgbClr val="BC6E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 mlrd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41248" y="3557016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 e-commerce hajmi (2024) — chakana savdoning atigi 3.8%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3552" y="251460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29231F"/>
          </a:solidFill>
          <a:ln w="12700">
            <a:solidFill>
              <a:srgbClr val="3C34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2825496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300" b="1" dirty="0">
                <a:solidFill>
                  <a:srgbClr val="BC6E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41–47%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547872" y="3557016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Yillik o'sish sur'ati (CAGR, 2023–2027) — KPMG prognozi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0176" y="251460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29231F"/>
          </a:solidFill>
          <a:ln w="12700">
            <a:solidFill>
              <a:srgbClr val="3C34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2825496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300" b="1" dirty="0">
                <a:solidFill>
                  <a:srgbClr val="BC6E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32.7 mln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254496" y="3557016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foydalanuvchilari — aholining ~87% i, 5G ishga tushgan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0" y="251460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29231F"/>
          </a:solidFill>
          <a:ln w="12700">
            <a:solidFill>
              <a:srgbClr val="3C34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2825496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300" b="1" dirty="0">
                <a:solidFill>
                  <a:srgbClr val="8FA0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~3%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8961120" y="3557016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xaridlarda uy-ro'zg'or va mebel ulushi — ochiq, egallanmagan nisha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5212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Aholining 60% — 30 yoshgacha.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B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2027'ga $1.8–2.2 mlrd'ga yetishi kutilmoqda — mebel bu o'sishda eng kam raqamlashgan yirik kategoriya.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6053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KPMG, hukumat statistikasi, DataReportal (2024–2025)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BE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B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Woody — mebel uchun yagona ishonchli marketplace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82496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mebelga ixtisoslashgan platforma: tasdiqlangan sotuvchilar va qulay xarid tajribasi bir joyda.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512064" cy="512064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2612258"/>
            <a:ext cx="225308" cy="225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432304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Tasdiqlangan sotuvchilar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80160" y="2743200"/>
            <a:ext cx="6144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 asosida verifikatsiya va "Verified" belgisi — soxta e'lonlardan himoya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3456432"/>
            <a:ext cx="512064" cy="512064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06" y="3599810"/>
            <a:ext cx="225308" cy="2253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419856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Mebelga xos xizmatlar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280160" y="3730752"/>
            <a:ext cx="6144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Yetkazib berish, montaj, kafolat va buyurtma asosida ishlash — bitta oqimda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6928" y="4443984"/>
            <a:ext cx="512064" cy="512064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6" y="4587362"/>
            <a:ext cx="225308" cy="2253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4407408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Saralangan premium katalog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280160" y="4718304"/>
            <a:ext cx="6144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Kategoriyalar, uch til (uz/ru/en), qidiruv va filtr — qulay tanlov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66928" y="5431536"/>
            <a:ext cx="512064" cy="512064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306" y="5574914"/>
            <a:ext cx="225308" cy="2253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5394960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 va shaffof xarid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280160" y="5705856"/>
            <a:ext cx="6144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Savat, buyurtma kuzatuvi va bildirishnomalar — boshidan oxirigacha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9107424" y="832104"/>
            <a:ext cx="2427229" cy="5193792"/>
          </a:xfrm>
          <a:prstGeom prst="roundRect">
            <a:avLst>
              <a:gd name="adj" fmla="val 5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88900" dir="5400000">
              <a:srgbClr val="171513">
                <a:alpha val="24000"/>
              </a:srgbClr>
            </a:outerShdw>
          </a:effectLst>
        </p:spPr>
      </p:sp>
      <p:pic>
        <p:nvPicPr>
          <p:cNvPr id="22" name="Image 4" descr="catalog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914400"/>
            <a:ext cx="2262637" cy="5029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566928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NIMA BERADI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B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Xaridorlar uchun qiymat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395728"/>
            <a:ext cx="493776" cy="493776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185" y="2533985"/>
            <a:ext cx="217261" cy="2172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3584" y="2359152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Saralangan katalog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43584" y="265176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mebel — kategoriya bo'yicha tartiblangan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2395728"/>
            <a:ext cx="493776" cy="493776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937" y="2533985"/>
            <a:ext cx="217261" cy="2172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74336" y="2359152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Qidiruv va filtr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974336" y="265176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Kategoriya va narx oralig'i bo'yicha tez topish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66928" y="3566160"/>
            <a:ext cx="493776" cy="493776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85" y="3704417"/>
            <a:ext cx="217261" cy="2172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43584" y="352958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Sevimlilar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43584" y="3822192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Yoqqan mahsulotni saqlab, keyin qaytish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297680" y="3566160"/>
            <a:ext cx="493776" cy="493776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937" y="3704417"/>
            <a:ext cx="217261" cy="2172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74336" y="352958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Chegirma va aksiya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974336" y="3822192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yetkazish va 30% gacha chegirmalar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66928" y="4736592"/>
            <a:ext cx="493776" cy="493776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185" y="4874849"/>
            <a:ext cx="217261" cy="21726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43584" y="4700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 kuzatuvi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243584" y="4992624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Holatni real vaqtda kuzatish va bildirishnomalar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297680" y="4736592"/>
            <a:ext cx="493776" cy="493776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5937" y="4874849"/>
            <a:ext cx="217261" cy="21726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74336" y="470001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Tasdiqlangan sotuvchi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4974336" y="4992624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ishonchli do'konlardan — xavfsiz xarid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9061704" y="850392"/>
            <a:ext cx="2406660" cy="5148072"/>
          </a:xfrm>
          <a:prstGeom prst="roundRect">
            <a:avLst>
              <a:gd name="adj" fmla="val 56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88900" dir="5400000">
              <a:srgbClr val="171513">
                <a:alpha val="24000"/>
              </a:srgbClr>
            </a:outerShdw>
          </a:effectLst>
        </p:spPr>
      </p:sp>
      <p:pic>
        <p:nvPicPr>
          <p:cNvPr id="29" name="Image 6" descr="home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932688"/>
            <a:ext cx="2242068" cy="49834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566928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NIMA BERADI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2B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Sotuvchilar uchun — "Woody'da soting"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642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Biznesingizni minglab xaridorlarga yetkazing — bir nechta tugma bilan.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493776" cy="493776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185" y="2607137"/>
            <a:ext cx="217261" cy="2172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243230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Raqamli do'kon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43584" y="2724912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qopqoq va to'liq vitrina — o'z brendingiz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2468880"/>
            <a:ext cx="493776" cy="493776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937" y="2607137"/>
            <a:ext cx="217261" cy="2172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74336" y="243230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boshqaruvi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974336" y="2724912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Qo'shish, tahrir, rasm va zaxira nazorati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66928" y="3657600"/>
            <a:ext cx="493776" cy="493776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85" y="3795857"/>
            <a:ext cx="217261" cy="2172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43584" y="362102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 boshqaruvi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43584" y="3913632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 → tayyorlash → yetkazish — bir panelda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297680" y="3657600"/>
            <a:ext cx="493776" cy="493776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937" y="3795857"/>
            <a:ext cx="217261" cy="2172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74336" y="362102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analitikasi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4974336" y="3913632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Daromad, buyurtma va eng yaxshi mahsulotlar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66928" y="4846320"/>
            <a:ext cx="493776" cy="493776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185" y="4984577"/>
            <a:ext cx="217261" cy="21726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43584" y="480974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Verifikatsiya belgisi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243584" y="5102352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Ishonchni oshiradi, ko'proq sotuvga olib keladi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297680" y="4846320"/>
            <a:ext cx="493776" cy="493776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5937" y="4984577"/>
            <a:ext cx="217261" cy="21726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974336" y="480974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rejalari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4974336" y="5102352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Free'dan Enterprise'gacha — biznesga mos masshtab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9061704" y="850392"/>
            <a:ext cx="2406660" cy="5148072"/>
          </a:xfrm>
          <a:prstGeom prst="roundRect">
            <a:avLst>
              <a:gd name="adj" fmla="val 56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88900" dir="5400000">
              <a:srgbClr val="171513">
                <a:alpha val="24000"/>
              </a:srgbClr>
            </a:outerShdw>
          </a:effectLst>
        </p:spPr>
      </p:sp>
      <p:pic>
        <p:nvPicPr>
          <p:cNvPr id="30" name="Image 6" descr="profile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932688"/>
            <a:ext cx="2242068" cy="49834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566928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MODELI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B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Xaridorlar uchun bepul — daromad sotuvchilardan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45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asosiy daromad oqimi bugundan, ikkitasi masshtabda qo'shiladi.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487168"/>
            <a:ext cx="2615184" cy="3154680"/>
          </a:xfrm>
          <a:prstGeom prst="roundRect">
            <a:avLst>
              <a:gd name="adj" fmla="val 3497"/>
            </a:avLst>
          </a:prstGeom>
          <a:solidFill>
            <a:srgbClr val="F6EAE1"/>
          </a:solidFill>
          <a:ln w="12700">
            <a:solidFill>
              <a:srgbClr val="EAE0D7"/>
            </a:solidFill>
            <a:prstDash val="solid"/>
          </a:ln>
          <a:effectLst>
            <a:outerShdw sx="100000" sy="100000" kx="0" ky="0" algn="bl" rotWithShape="0" blurRad="101600" dist="38100" dir="5400000">
              <a:srgbClr val="17151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798064"/>
            <a:ext cx="603504" cy="603504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517" y="2967045"/>
            <a:ext cx="265542" cy="2655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95728" y="27614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4C7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59536" y="3584448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Obuna (asosiy)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59536" y="4187952"/>
            <a:ext cx="2066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Sotuvchilar uchun oylik tarif: Free → Basic → Pro → Enterprise. Barqaror, takrorlanuvchi daromad.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46704" y="2487168"/>
            <a:ext cx="2615184" cy="3154680"/>
          </a:xfrm>
          <a:prstGeom prst="roundRect">
            <a:avLst>
              <a:gd name="adj" fmla="val 3497"/>
            </a:avLst>
          </a:prstGeom>
          <a:solidFill>
            <a:srgbClr val="F6EAE1"/>
          </a:solidFill>
          <a:ln w="12700">
            <a:solidFill>
              <a:srgbClr val="EAE0D7"/>
            </a:solidFill>
            <a:prstDash val="solid"/>
          </a:ln>
          <a:effectLst>
            <a:outerShdw sx="100000" sy="100000" kx="0" ky="0" algn="bl" rotWithShape="0" blurRad="101600" dist="38100" dir="5400000">
              <a:srgbClr val="171513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9312" y="2798064"/>
            <a:ext cx="603504" cy="603504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293" y="2967045"/>
            <a:ext cx="265542" cy="2655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75504" y="27614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4C7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639312" y="3584448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Tranzaksiya komissiyasi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639312" y="4187952"/>
            <a:ext cx="2066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sotuvdan 2–5% — GMV (savdo hajmi) bilan birga o'sadi.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26480" y="2487168"/>
            <a:ext cx="2615184" cy="3154680"/>
          </a:xfrm>
          <a:prstGeom prst="roundRect">
            <a:avLst>
              <a:gd name="adj" fmla="val 3497"/>
            </a:avLst>
          </a:prstGeom>
          <a:solidFill>
            <a:srgbClr val="FBF4EE"/>
          </a:solidFill>
          <a:ln w="12700">
            <a:solidFill>
              <a:srgbClr val="EAE0D7"/>
            </a:solidFill>
            <a:prstDash val="solid"/>
          </a:ln>
          <a:effectLst>
            <a:outerShdw sx="100000" sy="100000" kx="0" ky="0" algn="bl" rotWithShape="0" blurRad="101600" dist="38100" dir="5400000">
              <a:srgbClr val="171513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19088" y="2798064"/>
            <a:ext cx="603504" cy="603504"/>
          </a:xfrm>
          <a:prstGeom prst="ellipse">
            <a:avLst/>
          </a:prstGeom>
          <a:solidFill>
            <a:srgbClr val="8FA086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069" y="2967045"/>
            <a:ext cx="265542" cy="26554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955280" y="27614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419088" y="3584448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/ Reklama (V2)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419088" y="4187952"/>
            <a:ext cx="2066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 sahifa va qidiruvda yuqori ko'rinish uchun pulli joylar.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906256" y="2487168"/>
            <a:ext cx="2615184" cy="3154680"/>
          </a:xfrm>
          <a:prstGeom prst="roundRect">
            <a:avLst>
              <a:gd name="adj" fmla="val 3497"/>
            </a:avLst>
          </a:prstGeom>
          <a:solidFill>
            <a:srgbClr val="FBF4EE"/>
          </a:solidFill>
          <a:ln w="12700">
            <a:solidFill>
              <a:srgbClr val="EAE0D7"/>
            </a:solidFill>
            <a:prstDash val="solid"/>
          </a:ln>
          <a:effectLst>
            <a:outerShdw sx="100000" sy="100000" kx="0" ky="0" algn="bl" rotWithShape="0" blurRad="101600" dist="38100" dir="5400000">
              <a:srgbClr val="171513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198864" y="2798064"/>
            <a:ext cx="603504" cy="603504"/>
          </a:xfrm>
          <a:prstGeom prst="ellipse">
            <a:avLst/>
          </a:prstGeom>
          <a:solidFill>
            <a:srgbClr val="8FA086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7845" y="2967045"/>
            <a:ext cx="265542" cy="26554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735056" y="27614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7DD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9198864" y="3584448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Qo'shimcha xizmatlar (V2)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9198864" y="4187952"/>
            <a:ext cx="2066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 yetkazish, bo'lib to'lash va moliyalashtirishdan ulush.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66928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Boshlang'ich fokus: </a:t>
            </a:r>
            <a:pPr indent="0" marL="0">
              <a:buNone/>
            </a:pPr>
            <a:r>
              <a:rPr lang="en-US" sz="12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obuna + komissiya. Reklama va moliyaviy xizmatlar foydalanuvchi bazasi o'sgach qo'shiladi.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66928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DAROMAD MEXANIKASI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B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Sotuvchi tariflari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6420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tarif kirish to'sig'ini olib tashlaydi; sotuvchi o'sgani sayin yuqori tarifga ko'tariladi (past komissiya + imkoniyatlar).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432304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834640"/>
                <a:gridCol w="173736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6E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Narx / oy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6E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Mahsulot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6E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Komissiya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6E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Asosiy imkoniyatlar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6E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975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so'm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Asosiy joylashuv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975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99 000 so'm  (~$8)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Ustuvor qo'llab-quvvatlash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975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299 000 so'm  (~$25)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Cheksiz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Analitika, Featured joylar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975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Kelishuv asosida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Cheksiz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Kelishuv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Shaxsiy menejer, maxsus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Narxlar boshlang'ich misol — </a:t>
            </a:r>
            <a:pPr indent="0" marL="0">
              <a:buNone/>
            </a:pPr>
            <a:r>
              <a:rPr lang="en-US" sz="1100" i="1" dirty="0">
                <a:solidFill>
                  <a:srgbClr val="98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yakuniy tarif va komissiya biznes-strategiyaga moslab belgilanadi. Valyuta: $1 ≈ 12 000 so'm.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 IQTISODIYOTI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B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 sotuvchi va buyurtma — sog'lom iqtisodiyot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468880"/>
            <a:ext cx="2615184" cy="2286000"/>
          </a:xfrm>
          <a:prstGeom prst="roundRect">
            <a:avLst>
              <a:gd name="adj" fmla="val 4000"/>
            </a:avLst>
          </a:prstGeom>
          <a:solidFill>
            <a:srgbClr val="FBF4EE"/>
          </a:solidFill>
          <a:ln w="12700">
            <a:solidFill>
              <a:srgbClr val="EAE0D7"/>
            </a:solidFill>
            <a:prstDash val="solid"/>
          </a:ln>
          <a:effectLst>
            <a:outerShdw sx="100000" sy="100000" kx="0" ky="0" algn="bl" rotWithShape="0" blurRad="88900" dist="38100" dir="5400000">
              <a:srgbClr val="171513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761488"/>
            <a:ext cx="530352" cy="530352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747" y="2909987"/>
            <a:ext cx="233355" cy="2333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364992"/>
            <a:ext cx="2066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75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~$200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841248" y="3913632"/>
            <a:ext cx="2066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O'rtacha chek (AOV) ≈ 2.4 mln so'm — mebel yuqori cheklik mahsulot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46704" y="2468880"/>
            <a:ext cx="2615184" cy="2286000"/>
          </a:xfrm>
          <a:prstGeom prst="roundRect">
            <a:avLst>
              <a:gd name="adj" fmla="val 4000"/>
            </a:avLst>
          </a:prstGeom>
          <a:solidFill>
            <a:srgbClr val="FBF4EE"/>
          </a:solidFill>
          <a:ln w="12700">
            <a:solidFill>
              <a:srgbClr val="EAE0D7"/>
            </a:solidFill>
            <a:prstDash val="solid"/>
          </a:ln>
          <a:effectLst>
            <a:outerShdw sx="100000" sy="100000" kx="0" ky="0" algn="bl" rotWithShape="0" blurRad="88900" dist="38100" dir="5400000">
              <a:srgbClr val="171513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21024" y="2761488"/>
            <a:ext cx="530352" cy="530352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523" y="2909987"/>
            <a:ext cx="233355" cy="2333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21024" y="3364992"/>
            <a:ext cx="2066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75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~4%</a:t>
            </a:r>
            <a:endParaRPr lang="en-US" sz="2500" dirty="0"/>
          </a:p>
        </p:txBody>
      </p:sp>
      <p:sp>
        <p:nvSpPr>
          <p:cNvPr id="13" name="Text 9"/>
          <p:cNvSpPr/>
          <p:nvPr/>
        </p:nvSpPr>
        <p:spPr>
          <a:xfrm>
            <a:off x="3621024" y="3913632"/>
            <a:ext cx="2066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take-rate — obuna + komissiya birgalikda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2468880"/>
            <a:ext cx="2615184" cy="2286000"/>
          </a:xfrm>
          <a:prstGeom prst="roundRect">
            <a:avLst>
              <a:gd name="adj" fmla="val 4000"/>
            </a:avLst>
          </a:prstGeom>
          <a:solidFill>
            <a:srgbClr val="FBF4EE"/>
          </a:solidFill>
          <a:ln w="12700">
            <a:solidFill>
              <a:srgbClr val="EAE0D7"/>
            </a:solidFill>
            <a:prstDash val="solid"/>
          </a:ln>
          <a:effectLst>
            <a:outerShdw sx="100000" sy="100000" kx="0" ky="0" algn="bl" rotWithShape="0" blurRad="88900" dist="38100" dir="5400000">
              <a:srgbClr val="171513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2761488"/>
            <a:ext cx="530352" cy="530352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299" y="2909987"/>
            <a:ext cx="233355" cy="2333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3364992"/>
            <a:ext cx="2066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75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$40–100</a:t>
            </a:r>
            <a:endParaRPr lang="en-US" sz="2500" dirty="0"/>
          </a:p>
        </p:txBody>
      </p:sp>
      <p:sp>
        <p:nvSpPr>
          <p:cNvPr id="18" name="Text 13"/>
          <p:cNvSpPr/>
          <p:nvPr/>
        </p:nvSpPr>
        <p:spPr>
          <a:xfrm>
            <a:off x="6400800" y="3913632"/>
            <a:ext cx="2066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to'lovchi sotuvchidan oylik o'rtacha daromad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06256" y="2468880"/>
            <a:ext cx="2615184" cy="2286000"/>
          </a:xfrm>
          <a:prstGeom prst="roundRect">
            <a:avLst>
              <a:gd name="adj" fmla="val 4000"/>
            </a:avLst>
          </a:prstGeom>
          <a:solidFill>
            <a:srgbClr val="FBF4EE"/>
          </a:solidFill>
          <a:ln w="12700">
            <a:solidFill>
              <a:srgbClr val="EAE0D7"/>
            </a:solidFill>
            <a:prstDash val="solid"/>
          </a:ln>
          <a:effectLst>
            <a:outerShdw sx="100000" sy="100000" kx="0" ky="0" algn="bl" rotWithShape="0" blurRad="88900" dist="38100" dir="5400000">
              <a:srgbClr val="171513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80576" y="2761488"/>
            <a:ext cx="530352" cy="530352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9075" y="2909987"/>
            <a:ext cx="233355" cy="23335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0576" y="3364992"/>
            <a:ext cx="2066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75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</a:t>
            </a:r>
            <a:endParaRPr lang="en-US" sz="2500" dirty="0"/>
          </a:p>
        </p:txBody>
      </p:sp>
      <p:sp>
        <p:nvSpPr>
          <p:cNvPr id="23" name="Text 17"/>
          <p:cNvSpPr/>
          <p:nvPr/>
        </p:nvSpPr>
        <p:spPr>
          <a:xfrm>
            <a:off x="9180576" y="3913632"/>
            <a:ext cx="20665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Marjinal xarajat — managed infra, har yangi sotuvchi arzonga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66928" y="50749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C1A18"/>
          </a:solidFill>
          <a:ln/>
        </p:spPr>
      </p:sp>
      <p:sp>
        <p:nvSpPr>
          <p:cNvPr id="25" name="Text 19"/>
          <p:cNvSpPr/>
          <p:nvPr/>
        </p:nvSpPr>
        <p:spPr>
          <a:xfrm>
            <a:off x="932688" y="507492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BC6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modeli: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(savdo hajmi) o'sgani sayin daromad chiziqli o'sadi, har yangi sotuvchi va buyurtma uchun qo'shimcha xarajat minimal. Foydaga chiqish — masshtab masalasi.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66928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MOLIYAVIY PROGNOZ · 3 YIL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B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Daromad va foyda yo'li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468880"/>
                <a:gridCol w="2468880"/>
                <a:gridCol w="24688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Ko'rsatkich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Yil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Yil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Yil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Ro'yxatdan o'tgan sotuvchilar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To'lovchi sotuvchilar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Faol xaridorlar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130 000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Buyurtmalar (yillik)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GMV — savdo hajmi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75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 mln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75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$7.9 mln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75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$28.8 mln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Daromad (jami)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$320K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$1.35 mln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Xarajatlar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$110K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$340K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 mln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 natija (EBITDA)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–$63K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45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–$20K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E7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+$350K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76200" marT="25400" marB="254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1996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8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Taxminiy / illyustrativ prognoz — real ishga tushirish ma'lumotlari bilan yangilanadi. Konservativ stsenariy.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DAROMAD DINAMIKASI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3-yilda foydaga chiqish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" y="2286000"/>
          <a:ext cx="70408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233172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29231F"/>
          </a:solidFill>
          <a:ln w="12700">
            <a:solidFill>
              <a:srgbClr val="3C34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28432" y="236829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— Yil 1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784080" y="2368296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C6E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 mln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0" y="324612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29231F"/>
          </a:solidFill>
          <a:ln w="12700">
            <a:solidFill>
              <a:srgbClr val="3C34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28432" y="328269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— Yil 2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784080" y="3282696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C6E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$7.9 mln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772400" y="416052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29231F"/>
          </a:solidFill>
          <a:ln w="12700">
            <a:solidFill>
              <a:srgbClr val="3C34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28432" y="419709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— Yil 3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784080" y="4197096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C6E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$28.8 mln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772400" y="512064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BC6E4D"/>
          </a:solidFill>
          <a:ln/>
        </p:spPr>
      </p:sp>
      <p:sp>
        <p:nvSpPr>
          <p:cNvPr id="15" name="Text 12"/>
          <p:cNvSpPr/>
          <p:nvPr/>
        </p:nvSpPr>
        <p:spPr>
          <a:xfrm>
            <a:off x="8028432" y="51206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Foydaga chiqish: Yil 3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B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~24x o'sadi · take-rate ~4% · daromad xarajatdan oshadi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6928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BE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 VA POZITSIYA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B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Umumiy platformalar keng — Woody chuqur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Uzum, BirBir kabi platformalar hamma narsani sotadi; Woody faqat mebelni, lekin chuqurroq va ishonchliroq qiladi.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432304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06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Mezon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Umumiy marketplace'lar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Woody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6E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Fokus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C53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Hamma kategoriya — mebel ikkilamchi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975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Faqat mebel — vertikal mutaxassis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Sotuvchi ishonchi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C53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Umumiy reyting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975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Hujjat asosida verifikatsiya + belgi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Mebelga xos xizmat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C53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Montaj/kafolat/o'lcham filtri yo'q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975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Montaj, kafolat, buyurtma — tizimda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5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Katalog tajribasi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C53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Umumiy, ko'p "shovqin"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975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Saralangan, premium, uch til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Vertikal strategiya: </a:t>
            </a:r>
            <a:pPr indent="0" marL="0">
              <a:buNone/>
            </a:pPr>
            <a:r>
              <a:rPr lang="en-US" sz="12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kategoriyada eng yaxshi tajriba + ishonch + xizmat — keng platformalar bera olmaydigan qiymat.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BOZORGA CHIQISH VA YO'L XARITASI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B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Bosqichma-bosqich kengayish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395728"/>
            <a:ext cx="3529584" cy="3611880"/>
          </a:xfrm>
          <a:prstGeom prst="roundRect">
            <a:avLst>
              <a:gd name="adj" fmla="val 2591"/>
            </a:avLst>
          </a:prstGeom>
          <a:solidFill>
            <a:srgbClr val="F6EAE1"/>
          </a:solidFill>
          <a:ln w="12700">
            <a:solidFill>
              <a:srgbClr val="EAE0D7"/>
            </a:solidFill>
            <a:prstDash val="solid"/>
          </a:ln>
          <a:effectLst>
            <a:outerShdw sx="100000" sy="100000" kx="0" ky="0" algn="bl" rotWithShape="0" blurRad="101600" dist="38100" dir="5400000">
              <a:srgbClr val="17151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706624"/>
            <a:ext cx="603504" cy="603504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517" y="2875605"/>
            <a:ext cx="265542" cy="2655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633472" y="2779776"/>
            <a:ext cx="117043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C6E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33472" y="2779776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75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oy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59536" y="3493008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50" b="1" dirty="0">
                <a:solidFill>
                  <a:srgbClr val="2B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Faza 1 — Ishga tushirish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77824" y="4224528"/>
            <a:ext cx="29626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MVP'ni Toshkentda chiqarish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Dastlabki 50–100 sotuvchi (Instagram/Telegram mebel sotuvchilari)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verifikatsiya, naqd to'lov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34256" y="2395728"/>
            <a:ext cx="3529584" cy="3611880"/>
          </a:xfrm>
          <a:prstGeom prst="roundRect">
            <a:avLst>
              <a:gd name="adj" fmla="val 2591"/>
            </a:avLst>
          </a:prstGeom>
          <a:solidFill>
            <a:srgbClr val="F6EAE1"/>
          </a:solidFill>
          <a:ln w="12700">
            <a:solidFill>
              <a:srgbClr val="EAE0D7"/>
            </a:solidFill>
            <a:prstDash val="solid"/>
          </a:ln>
          <a:effectLst>
            <a:outerShdw sx="100000" sy="100000" kx="0" ky="0" algn="bl" rotWithShape="0" blurRad="101600" dist="38100" dir="5400000">
              <a:srgbClr val="171513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26864" y="2706624"/>
            <a:ext cx="603504" cy="603504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845" y="2875605"/>
            <a:ext cx="265542" cy="26554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00800" y="2779776"/>
            <a:ext cx="117043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C6E4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0" y="2779776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75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oy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626864" y="3493008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50" b="1" dirty="0">
                <a:solidFill>
                  <a:srgbClr val="2B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Faza 2 — O'sish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4645152" y="4224528"/>
            <a:ext cx="29626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yirik shahar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/ Payme to'lov integratsiyasi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MyID verifikatsiya, sharhlar va reyting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01584" y="2395728"/>
            <a:ext cx="3529584" cy="3611880"/>
          </a:xfrm>
          <a:prstGeom prst="roundRect">
            <a:avLst>
              <a:gd name="adj" fmla="val 2591"/>
            </a:avLst>
          </a:prstGeom>
          <a:solidFill>
            <a:srgbClr val="FBF4EE"/>
          </a:solidFill>
          <a:ln w="12700">
            <a:solidFill>
              <a:srgbClr val="EAE0D7"/>
            </a:solidFill>
            <a:prstDash val="solid"/>
          </a:ln>
          <a:effectLst>
            <a:outerShdw sx="100000" sy="100000" kx="0" ky="0" algn="bl" rotWithShape="0" blurRad="101600" dist="38100" dir="5400000">
              <a:srgbClr val="171513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94192" y="2706624"/>
            <a:ext cx="603504" cy="603504"/>
          </a:xfrm>
          <a:prstGeom prst="ellipse">
            <a:avLst/>
          </a:prstGeom>
          <a:solidFill>
            <a:srgbClr val="8FA086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173" y="2875605"/>
            <a:ext cx="265542" cy="26554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168128" y="2779776"/>
            <a:ext cx="117043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FA08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0168128" y="2779776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9–18 oy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394192" y="3493008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650" b="1" dirty="0">
                <a:solidFill>
                  <a:srgbClr val="2B25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Faza 3 — Masshtab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8412480" y="4224528"/>
            <a:ext cx="29626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Butun respublika qamrovi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bo'lib to'lash / moliyalashtirish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/ reklama daromadi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66928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8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2926080"/>
            <a:ext cx="5669280" cy="5669280"/>
          </a:xfrm>
          <a:prstGeom prst="ellipse">
            <a:avLst/>
          </a:prstGeom>
          <a:solidFill>
            <a:srgbClr val="97502F">
              <a:alpha val="2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INVESTITSIYA SO'ROVI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9496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$150K – $250K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566928" y="2286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FE7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bosqichi · ~18–24 oylik runway — foydaga chiqishgacha yetadi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C6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Mablag' qayerga ketadi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3520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C6E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55648" y="3520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va jamoa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755648" y="3904488"/>
            <a:ext cx="1975104" cy="64008"/>
          </a:xfrm>
          <a:prstGeom prst="rect">
            <a:avLst/>
          </a:prstGeom>
          <a:solidFill>
            <a:srgbClr val="BC6E4D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41970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C6E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55648" y="41970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va sotuvchi jalb qilish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755648" y="4581144"/>
            <a:ext cx="1536192" cy="64008"/>
          </a:xfrm>
          <a:prstGeom prst="rect">
            <a:avLst/>
          </a:prstGeom>
          <a:solidFill>
            <a:srgbClr val="BC6E4D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4873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C6E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55648" y="4873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va infratuzilma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755648" y="5257800"/>
            <a:ext cx="877824" cy="64008"/>
          </a:xfrm>
          <a:prstGeom prst="rect">
            <a:avLst/>
          </a:prstGeom>
          <a:solidFill>
            <a:srgbClr val="8FA086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3063240"/>
            <a:ext cx="4754880" cy="2788920"/>
          </a:xfrm>
          <a:prstGeom prst="roundRect">
            <a:avLst>
              <a:gd name="adj" fmla="val 3279"/>
            </a:avLst>
          </a:prstGeom>
          <a:solidFill>
            <a:srgbClr val="29231F"/>
          </a:solidFill>
          <a:ln w="12700">
            <a:solidFill>
              <a:srgbClr val="3C34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C6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Mablag' ochadigan natijalar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50608" y="3767328"/>
            <a:ext cx="365760" cy="365760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3021" y="3869741"/>
            <a:ext cx="160934" cy="16093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680960" y="373075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1 200+ sotuvchi, 40 000+ xaridor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150608" y="4279392"/>
            <a:ext cx="365760" cy="365760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021" y="4381805"/>
            <a:ext cx="160934" cy="16093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680960" y="42428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$7.9 mln GMV — foydaga yaqin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7150608" y="4791456"/>
            <a:ext cx="365760" cy="365760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1" y="4893869"/>
            <a:ext cx="160934" cy="16093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680960" y="4754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yirik shaharda mavjudlik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7150608" y="5303520"/>
            <a:ext cx="365760" cy="365760"/>
          </a:xfrm>
          <a:prstGeom prst="ellipse">
            <a:avLst/>
          </a:prstGeom>
          <a:solidFill>
            <a:srgbClr val="BC6E4D"/>
          </a:solidFill>
          <a:ln/>
          <a:effectLst>
            <a:outerShdw sx="100000" sy="100000" kx="0" ky="0" algn="bl" rotWithShape="0" blurRad="76200" dist="25400" dir="5400000">
              <a:srgbClr val="171513">
                <a:alpha val="18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021" y="5405933"/>
            <a:ext cx="160934" cy="16093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680960" y="52669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 + MyID integratsiyasi ishga tushadi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566928" y="6199632"/>
            <a:ext cx="11064240" cy="0"/>
          </a:xfrm>
          <a:prstGeom prst="line">
            <a:avLst/>
          </a:prstGeom>
          <a:noFill/>
          <a:ln w="12700">
            <a:solidFill>
              <a:srgbClr val="3C342E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66928" y="6309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Woody</a:t>
            </a:r>
            <a:pPr indent="0" marL="0">
              <a:buNone/>
            </a:pPr>
            <a:r>
              <a:rPr lang="en-US" sz="1200" dirty="0">
                <a:solidFill>
                  <a:srgbClr val="C9B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Premium Mebel Marketplace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858000" y="6309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BE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Eldor Turg'unov  ·  [telegram / email]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Woody — Investorlar uchun taqdimot</dc:title>
  <dc:subject>PptxGenJS Presentation</dc:subject>
  <dc:creator>Woody</dc:creator>
  <cp:lastModifiedBy>Woody</cp:lastModifiedBy>
  <cp:revision>1</cp:revision>
  <dcterms:created xsi:type="dcterms:W3CDTF">2026-06-04T04:16:39Z</dcterms:created>
  <dcterms:modified xsi:type="dcterms:W3CDTF">2026-06-04T04:16:39Z</dcterms:modified>
</cp:coreProperties>
</file>