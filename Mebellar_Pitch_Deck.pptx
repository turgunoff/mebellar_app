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66B3D"/>
              </a:solidFill>
              <a:effectLst/>
            </c:spPr>
          </c:dPt>
          <c:dPt>
            <c:idx val="1"/>
            <c:bubble3D val="0"/>
            <c:spPr>
              <a:solidFill>
                <a:srgbClr val="8A9A8C"/>
              </a:solidFill>
              <a:effectLst/>
            </c:spPr>
          </c:dPt>
          <c:dPt>
            <c:idx val="2"/>
            <c:bubble3D val="0"/>
            <c:spPr>
              <a:solidFill>
                <a:srgbClr val="E8A584"/>
              </a:solidFill>
              <a:effectLst/>
            </c:spPr>
          </c:dPt>
          <c:dPt>
            <c:idx val="3"/>
            <c:bubble3D val="0"/>
            <c:spPr>
              <a:solidFill>
                <a:srgbClr val="B49B85"/>
              </a:solidFill>
              <a:effectLst/>
            </c:spPr>
          </c:dPt>
          <c:dPt>
            <c:idx val="4"/>
            <c:bubble3D val="0"/>
            <c:spPr>
              <a:solidFill>
                <a:srgbClr val="78706B"/>
              </a:solidFill>
              <a:effectLst/>
            </c:spPr>
          </c:dPt>
          <c:dPt>
            <c:idx val="5"/>
            <c:bubble3D val="0"/>
            <c:spPr>
              <a:solidFill>
                <a:srgbClr val="3D332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Ikkinchi muhandis</c:v>
                </c:pt>
                <c:pt idx="1">
                  <c:v>Marketing va SMM</c:v>
                </c:pt>
                <c:pt idx="2">
                  <c:v>Sotuvchi concierge</c:v>
                </c:pt>
                <c:pt idx="3">
                  <c:v>Mahsulot menejeri</c:v>
                </c:pt>
                <c:pt idx="4">
                  <c:v>Server xarajatlari</c:v>
                </c:pt>
                <c:pt idx="5">
                  <c:v>Gateway sertifikat va yuridik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30</c:v>
                </c:pt>
                <c:pt idx="1">
                  <c:v>20</c:v>
                </c:pt>
                <c:pt idx="2">
                  <c:v>15</c:v>
                </c:pt>
                <c:pt idx="3">
                  <c:v>15</c:v>
                </c:pt>
                <c:pt idx="4">
                  <c:v>10</c:v>
                </c:pt>
                <c:pt idx="5">
                  <c:v>10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FAF6F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8A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·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spc="800" kern="0" dirty="0">
                <a:solidFill>
                  <a:srgbClr val="FB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MEBELLAR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457200" y="2697480"/>
            <a:ext cx="731520" cy="0"/>
          </a:xfrm>
          <a:prstGeom prst="line">
            <a:avLst/>
          </a:prstGeom>
          <a:noFill/>
          <a:ln w="38100">
            <a:solidFill>
              <a:srgbClr val="C66B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B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O'zbekistonning birinchi mebel marketplace'i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A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Ikki tomonli platforma · Mobil-birinchi · Markaziy Osiyo bozori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4366260"/>
            <a:ext cx="8229600" cy="0"/>
          </a:xfrm>
          <a:prstGeom prst="line">
            <a:avLst/>
          </a:prstGeom>
          <a:noFill/>
          <a:ln w="6350">
            <a:solidFill>
              <a:srgbClr val="C66B3D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5034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Eldor Turg'unov · Lead Developer &amp; Founder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45034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E8A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C2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8A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B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O'zbekiston mebel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B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bozorini </a:t>
            </a:r>
            <a:endParaRPr lang="en-US" sz="4800" dirty="0"/>
          </a:p>
          <a:p>
            <a:pPr indent="0" marL="0">
              <a:buNone/>
            </a:pPr>
            <a:r>
              <a:rPr lang="en-US" sz="4800" b="1" i="1" dirty="0">
                <a:solidFill>
                  <a:srgbClr val="C6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raqamlashtiramiz</a:t>
            </a:r>
            <a:pPr indent="0" marL="0">
              <a:buNone/>
            </a:pPr>
            <a:r>
              <a:rPr lang="en-US" sz="4800" b="1" dirty="0">
                <a:solidFill>
                  <a:srgbClr val="FB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457200" y="3657600"/>
            <a:ext cx="457200" cy="0"/>
          </a:xfrm>
          <a:prstGeom prst="line">
            <a:avLst/>
          </a:prstGeom>
          <a:noFill/>
          <a:ln w="25400">
            <a:solidFill>
              <a:srgbClr val="C66B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7673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5,000+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42245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Mebel sotuvchisi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A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O'zbekistonda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3657600"/>
            <a:ext cx="457200" cy="0"/>
          </a:xfrm>
          <a:prstGeom prst="line">
            <a:avLst/>
          </a:prstGeom>
          <a:noFill/>
          <a:ln w="25400">
            <a:solidFill>
              <a:srgbClr val="C66B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37673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91840" y="42245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Smartfon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A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penetratsiyasi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3657600"/>
            <a:ext cx="457200" cy="0"/>
          </a:xfrm>
          <a:prstGeom prst="line">
            <a:avLst/>
          </a:prstGeom>
          <a:noFill/>
          <a:ln w="25400">
            <a:solidFill>
              <a:srgbClr val="C66B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37673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26480" y="42245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Mebelga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A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ixtisoslashgan raqib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3816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A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777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A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MEBELLAR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6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14400" y="566928"/>
            <a:ext cx="274320" cy="0"/>
          </a:xfrm>
          <a:prstGeom prst="line">
            <a:avLst/>
          </a:prstGeom>
          <a:noFill/>
          <a:ln w="12700">
            <a:solidFill>
              <a:srgbClr val="C66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Bozor parchalangan,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tizimlashtirilmagan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423160"/>
            <a:ext cx="548640" cy="548640"/>
          </a:xfrm>
          <a:prstGeom prst="ellipse">
            <a:avLst/>
          </a:prstGeom>
          <a:solidFill>
            <a:srgbClr val="C66B3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6032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Xaridor uchun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77240" y="35204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Mebel topish — Instagram'da soatlab qidiruv. Narx, sifat va sotuvchi ishonchliligi noaniq. Buyurtma berib bo'lgach — kuzatib bo'lmaydi.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214884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11880" y="2423160"/>
            <a:ext cx="548640" cy="548640"/>
          </a:xfrm>
          <a:prstGeom prst="ellipse">
            <a:avLst/>
          </a:prstGeom>
          <a:solidFill>
            <a:srgbClr val="C66B3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256032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188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Sotuvchi uchun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3611880" y="35204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va Telegram orqali sotish — qo'lda buyurtma, ma'lumot tarqoq. O'z onlayn-do'koni texnik to'siq va xarajatda.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26480" y="214884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46520" y="2423160"/>
            <a:ext cx="548640" cy="548640"/>
          </a:xfrm>
          <a:prstGeom prst="ellipse">
            <a:avLst/>
          </a:prstGeom>
          <a:solidFill>
            <a:srgbClr val="C66B3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5603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4652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Bozor uchun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6446520" y="35204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marketplace'larda mebel sayoz va ishonchsiz. O'zbekistonda mebelga ixtisoslashgan platforma yo'q.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13816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457200" y="47777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MEBELLAR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6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14400" y="566928"/>
            <a:ext cx="274320" cy="0"/>
          </a:xfrm>
          <a:prstGeom prst="line">
            <a:avLst/>
          </a:prstGeom>
          <a:noFill/>
          <a:ln w="12700">
            <a:solidFill>
              <a:srgbClr val="C66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YECHIM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Mebellar — bitta mobil ilova,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ikkala tomon uchun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4688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4688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XARIDOR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35204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 · Search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· Checkout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37560" y="2194560"/>
            <a:ext cx="2468880" cy="2194560"/>
          </a:xfrm>
          <a:prstGeom prst="rect">
            <a:avLst/>
          </a:prstGeom>
          <a:solidFill>
            <a:srgbClr val="2C2520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246888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29000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E8A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MEBELLAR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429000" y="35204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Yagona platforma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B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Ishonchli markaz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B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Ikki tomonni bog'laydi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2194560"/>
            <a:ext cx="24688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46888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9360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SOTUVCHI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309360" y="35204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Do'kon · CRUD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· Analytics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verifikatsiya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2926080" y="3291840"/>
            <a:ext cx="411480" cy="0"/>
          </a:xfrm>
          <a:prstGeom prst="line">
            <a:avLst/>
          </a:prstGeom>
          <a:noFill/>
          <a:ln w="19050">
            <a:solidFill>
              <a:srgbClr val="C66B3D"/>
            </a:solidFill>
            <a:prstDash val="dash"/>
          </a:ln>
        </p:spPr>
      </p:sp>
      <p:sp>
        <p:nvSpPr>
          <p:cNvPr id="19" name="Shape 14"/>
          <p:cNvSpPr/>
          <p:nvPr/>
        </p:nvSpPr>
        <p:spPr>
          <a:xfrm>
            <a:off x="5806440" y="3291840"/>
            <a:ext cx="411480" cy="0"/>
          </a:xfrm>
          <a:prstGeom prst="line">
            <a:avLst/>
          </a:prstGeom>
          <a:noFill/>
          <a:ln w="19050">
            <a:solidFill>
              <a:srgbClr val="C66B3D"/>
            </a:solidFill>
            <a:prstDash val="dash"/>
          </a:ln>
        </p:spPr>
      </p:sp>
      <p:sp>
        <p:nvSpPr>
          <p:cNvPr id="20" name="Text 15"/>
          <p:cNvSpPr/>
          <p:nvPr/>
        </p:nvSpPr>
        <p:spPr>
          <a:xfrm>
            <a:off x="457200" y="44348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6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Bir foydalanuvchi ikkala tomonni real-time'da almashtira oladi — qayta o'rnatishsiz.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813816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457200" y="47777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MEBELLAR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6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14400" y="566928"/>
            <a:ext cx="274320" cy="0"/>
          </a:xfrm>
          <a:prstGeom prst="line">
            <a:avLst/>
          </a:prstGeom>
          <a:noFill/>
          <a:ln w="12700">
            <a:solidFill>
              <a:srgbClr val="C66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 IMKONIYATI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Yetuk va o'sib borayotgan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bozor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286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6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36M+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O'zbekiston aholisi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210312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2286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6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85%+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65176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Smartfon penetratsiyasi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210312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2286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6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50%+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5488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Shaharlashish darajasi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210312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0" y="2286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6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$200–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C6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$2,000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85800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O'rtacha mebel chek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 DRAYVERLARI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109728" cy="109728"/>
          </a:xfrm>
          <a:prstGeom prst="ellipse">
            <a:avLst/>
          </a:prstGeom>
          <a:solidFill>
            <a:srgbClr val="C66B3D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977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o'sishi — Uzum, Sello bozorni 'tarbiya' qildi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4069080"/>
            <a:ext cx="109728" cy="109728"/>
          </a:xfrm>
          <a:prstGeom prst="ellipse">
            <a:avLst/>
          </a:prstGeom>
          <a:solidFill>
            <a:srgbClr val="C66B3D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977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Mebel niche'i bo'sh — universal'larda sayoz va ishonchsiz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389120"/>
            <a:ext cx="109728" cy="109728"/>
          </a:xfrm>
          <a:prstGeom prst="ellipse">
            <a:avLst/>
          </a:prstGeom>
          <a:solidFill>
            <a:srgbClr val="C66B3D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297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Mahalliy logistika sotuvchining qo'lida — Mebellar inventar tashimaydi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4389120"/>
            <a:ext cx="109728" cy="109728"/>
          </a:xfrm>
          <a:prstGeom prst="ellipse">
            <a:avLst/>
          </a:prstGeom>
          <a:solidFill>
            <a:srgbClr val="C66B3D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4297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Yuqori AOV — har tranzaksiya $200+, universal'lardagi $10-30'dan ko'p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3816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7777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MEBELLAR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6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14400" y="566928"/>
            <a:ext cx="274320" cy="0"/>
          </a:xfrm>
          <a:prstGeom prst="line">
            <a:avLst/>
          </a:prstGeom>
          <a:noFill/>
          <a:ln w="12700">
            <a:solidFill>
              <a:srgbClr val="C66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 · XARIDOR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Xaridor uchun butun yo'l —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bir ilovada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590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103120"/>
            <a:ext cx="73152" cy="1188720"/>
          </a:xfrm>
          <a:prstGeom prst="rect">
            <a:avLst/>
          </a:prstGeom>
          <a:solidFill>
            <a:srgbClr val="C66B3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2860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2286000"/>
            <a:ext cx="181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&amp; Catalog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2743200"/>
            <a:ext cx="222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qidiruv, ko'p darajali kategoriyalar, full-text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76600" y="2103120"/>
            <a:ext cx="2590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76600" y="2103120"/>
            <a:ext cx="73152" cy="1188720"/>
          </a:xfrm>
          <a:prstGeom prst="rect">
            <a:avLst/>
          </a:prstGeom>
          <a:solidFill>
            <a:srgbClr val="C66B3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22860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62400" y="2286000"/>
            <a:ext cx="181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Favorites &amp; Cart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05200" y="2743200"/>
            <a:ext cx="222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Oflayn ishlaydi — Hive cache + auth bo'lganda sinxron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96000" y="2103120"/>
            <a:ext cx="2590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96000" y="2103120"/>
            <a:ext cx="73152" cy="1188720"/>
          </a:xfrm>
          <a:prstGeom prst="rect">
            <a:avLst/>
          </a:prstGeom>
          <a:solidFill>
            <a:srgbClr val="C66B3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2860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81800" y="2286000"/>
            <a:ext cx="181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 Checkout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324600" y="2743200"/>
            <a:ext cx="222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Yandex map orqali manzil tanlash, ko'p qadamli flow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57200" y="3520440"/>
            <a:ext cx="2590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57200" y="3520440"/>
            <a:ext cx="73152" cy="1188720"/>
          </a:xfrm>
          <a:prstGeom prst="rect">
            <a:avLst/>
          </a:prstGeom>
          <a:solidFill>
            <a:srgbClr val="C66B3D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70332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43000" y="3703320"/>
            <a:ext cx="181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Tracking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85800" y="4160520"/>
            <a:ext cx="222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Buyurtma holati push'siz, websocket orqali yangilanadi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276600" y="3520440"/>
            <a:ext cx="2590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276600" y="3520440"/>
            <a:ext cx="73152" cy="1188720"/>
          </a:xfrm>
          <a:prstGeom prst="rect">
            <a:avLst/>
          </a:prstGeom>
          <a:solidFill>
            <a:srgbClr val="C66B3D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5200" y="3703320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962400" y="3703320"/>
            <a:ext cx="181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Uch tilli UI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3505200" y="4160520"/>
            <a:ext cx="222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 · Rus · Ingliz — 322 kalit, drift 0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096000" y="3520440"/>
            <a:ext cx="2590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096000" y="3520440"/>
            <a:ext cx="73152" cy="1188720"/>
          </a:xfrm>
          <a:prstGeom prst="rect">
            <a:avLst/>
          </a:prstGeom>
          <a:solidFill>
            <a:srgbClr val="C66B3D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0" y="3703320"/>
            <a:ext cx="365760" cy="36576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781800" y="3703320"/>
            <a:ext cx="181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Push &amp; Inbox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6324600" y="4160520"/>
            <a:ext cx="222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 push + ilovadagi bildirishnoma inbox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813816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457200" y="47777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MEBELLAR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6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14400" y="566928"/>
            <a:ext cx="274320" cy="0"/>
          </a:xfrm>
          <a:prstGeom prst="line">
            <a:avLst/>
          </a:prstGeom>
          <a:noFill/>
          <a:ln w="12700">
            <a:solidFill>
              <a:srgbClr val="C66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 · SOTUVCHI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Sotuvchi — 5 daqiqada onlayn,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shu sekundda professional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590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103120"/>
            <a:ext cx="73152" cy="1188720"/>
          </a:xfrm>
          <a:prstGeom prst="rect">
            <a:avLst/>
          </a:prstGeom>
          <a:solidFill>
            <a:srgbClr val="8A9A8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2860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2286000"/>
            <a:ext cx="181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 + KYC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2743200"/>
            <a:ext cx="222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qadamli wizard, passport upload, verifikatsiya pipeline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76600" y="2103120"/>
            <a:ext cx="2590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76600" y="2103120"/>
            <a:ext cx="73152" cy="1188720"/>
          </a:xfrm>
          <a:prstGeom prst="rect">
            <a:avLst/>
          </a:prstGeom>
          <a:solidFill>
            <a:srgbClr val="8A9A8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22860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62400" y="2286000"/>
            <a:ext cx="181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Mahsulot CRUD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05200" y="2743200"/>
            <a:ext cx="222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Ko'p bo'limli forma: asos, narx, logistika, media, xususiyat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96000" y="2103120"/>
            <a:ext cx="2590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96000" y="2103120"/>
            <a:ext cx="73152" cy="1188720"/>
          </a:xfrm>
          <a:prstGeom prst="rect">
            <a:avLst/>
          </a:prstGeom>
          <a:solidFill>
            <a:srgbClr val="8A9A8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2860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81800" y="2286000"/>
            <a:ext cx="181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Buyurtma boshqaruvi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324600" y="2743200"/>
            <a:ext cx="222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buyurtma real-time signali, fulfillment flow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57200" y="3520440"/>
            <a:ext cx="2590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57200" y="3520440"/>
            <a:ext cx="73152" cy="1188720"/>
          </a:xfrm>
          <a:prstGeom prst="rect">
            <a:avLst/>
          </a:prstGeom>
          <a:solidFill>
            <a:srgbClr val="8A9A8C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70332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43000" y="3703320"/>
            <a:ext cx="181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&amp; Analytics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85800" y="4160520"/>
            <a:ext cx="222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kartalar, sotuv trend'lari, sharhlar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276600" y="3520440"/>
            <a:ext cx="2590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276600" y="3520440"/>
            <a:ext cx="73152" cy="1188720"/>
          </a:xfrm>
          <a:prstGeom prst="rect">
            <a:avLst/>
          </a:prstGeom>
          <a:solidFill>
            <a:srgbClr val="8A9A8C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5200" y="3703320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962400" y="3703320"/>
            <a:ext cx="181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 Settings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3505200" y="4160520"/>
            <a:ext cx="222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vaqti, yetkazib berish, montaj, garantiya, bo'lib to'lash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096000" y="3520440"/>
            <a:ext cx="2590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096000" y="3520440"/>
            <a:ext cx="73152" cy="1188720"/>
          </a:xfrm>
          <a:prstGeom prst="rect">
            <a:avLst/>
          </a:prstGeom>
          <a:solidFill>
            <a:srgbClr val="8A9A8C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0" y="3703320"/>
            <a:ext cx="365760" cy="36576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781800" y="3703320"/>
            <a:ext cx="181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Tariff &amp; Billing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6324600" y="4160520"/>
            <a:ext cx="222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Basic / Pro / Enterprise — P2P payment + screenshot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813816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457200" y="47777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MEBELLAR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2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6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14400" y="566928"/>
            <a:ext cx="274320" cy="0"/>
          </a:xfrm>
          <a:prstGeom prst="line">
            <a:avLst/>
          </a:prstGeom>
          <a:noFill/>
          <a:ln w="12700">
            <a:solidFill>
              <a:srgbClr val="C66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A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TEXNIK AFZALLIK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B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Bitta ilova, ikki tomon,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B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almashtirish.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noyob arxitektura xususiyati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B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foydalanuvchi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xaridor, ham sotuvchi bo'la oladi.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A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→ 'Sotuvchi rejimi' bosish kifoya — ilova qayta o'rnatilmaydi, foydalanuvchi qayta kirmaydi.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E8A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Phoenix + scoped DI orqali widget tree to'liq qayta quriladi, lekin Firebase, Supabase va Hive xizmatlari uzulmaydi.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0" y="2331720"/>
            <a:ext cx="3200400" cy="2286000"/>
          </a:xfrm>
          <a:prstGeom prst="rect">
            <a:avLst/>
          </a:prstGeom>
          <a:solidFill>
            <a:srgbClr val="3D332E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25146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MODE SWITCH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0" y="2834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switchMode(seller) chaqirilli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0" y="31638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AppModeCubit emits new mode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0" y="34930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 scope swap (pop + init)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0" y="38221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Phoenix.rebirth(context)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0" y="41513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SellerApp mount qilindi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3816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A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7777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A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MEBELLAR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6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14400" y="566928"/>
            <a:ext cx="274320" cy="0"/>
          </a:xfrm>
          <a:prstGeom prst="line">
            <a:avLst/>
          </a:prstGeom>
          <a:noFill/>
          <a:ln w="12700">
            <a:solidFill>
              <a:srgbClr val="C66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 MODELI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Sotuvchi tarifi —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asosiy daromad oqimi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9202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103120"/>
            <a:ext cx="1920240" cy="109728"/>
          </a:xfrm>
          <a:prstGeom prst="rect">
            <a:avLst/>
          </a:prstGeom>
          <a:solidFill>
            <a:srgbClr val="78706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88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0080" y="3657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1554480" cy="0"/>
          </a:xfrm>
          <a:prstGeom prst="line">
            <a:avLst/>
          </a:prstGeom>
          <a:noFill/>
          <a:ln w="6350">
            <a:solidFill>
              <a:srgbClr val="D9CF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977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mahsulot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2062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komissiya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0" y="2103120"/>
            <a:ext cx="19202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0" y="2103120"/>
            <a:ext cx="1920240" cy="109728"/>
          </a:xfrm>
          <a:prstGeom prst="rect">
            <a:avLst/>
          </a:prstGeom>
          <a:solidFill>
            <a:srgbClr val="8A9A8C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0" y="2788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0" y="31546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99,000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743200" y="3657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so'm/oy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0" y="3931920"/>
            <a:ext cx="1554480" cy="0"/>
          </a:xfrm>
          <a:prstGeom prst="line">
            <a:avLst/>
          </a:prstGeom>
          <a:noFill/>
          <a:ln w="6350">
            <a:solidFill>
              <a:srgbClr val="D9CF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3977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mahsulot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0" y="42062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komissiya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103120"/>
            <a:ext cx="1920240" cy="2377440"/>
          </a:xfrm>
          <a:prstGeom prst="rect">
            <a:avLst/>
          </a:prstGeom>
          <a:solidFill>
            <a:srgbClr val="2C2520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103120"/>
            <a:ext cx="1920240" cy="109728"/>
          </a:xfrm>
          <a:prstGeom prst="rect">
            <a:avLst/>
          </a:prstGeom>
          <a:solidFill>
            <a:srgbClr val="C66B3D"/>
          </a:solidFill>
          <a:ln/>
        </p:spPr>
      </p:sp>
      <p:sp>
        <p:nvSpPr>
          <p:cNvPr id="24" name="Shape 22"/>
          <p:cNvSpPr/>
          <p:nvPr/>
        </p:nvSpPr>
        <p:spPr>
          <a:xfrm>
            <a:off x="4800600" y="2377440"/>
            <a:ext cx="1005840" cy="274320"/>
          </a:xfrm>
          <a:prstGeom prst="rect">
            <a:avLst/>
          </a:prstGeom>
          <a:solidFill>
            <a:srgbClr val="C66B3D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2377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TAVSIYA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2788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31546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B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299,000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846320" y="3657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so'm/oy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931920"/>
            <a:ext cx="1554480" cy="0"/>
          </a:xfrm>
          <a:prstGeom prst="line">
            <a:avLst/>
          </a:prstGeom>
          <a:noFill/>
          <a:ln w="6350">
            <a:solidFill>
              <a:srgbClr val="3D33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977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Cheksiz mahsulot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42062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+ Analytics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66560" y="2103120"/>
            <a:ext cx="19202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766560" y="2103120"/>
            <a:ext cx="1920240" cy="109728"/>
          </a:xfrm>
          <a:prstGeom prst="rect">
            <a:avLst/>
          </a:prstGeom>
          <a:solidFill>
            <a:srgbClr val="2C2520"/>
          </a:solidFill>
          <a:ln/>
        </p:spPr>
      </p:sp>
      <p:sp>
        <p:nvSpPr>
          <p:cNvPr id="34" name="Text 32"/>
          <p:cNvSpPr/>
          <p:nvPr/>
        </p:nvSpPr>
        <p:spPr>
          <a:xfrm>
            <a:off x="6949440" y="2788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49440" y="31546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949440" y="3657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949440" y="3931920"/>
            <a:ext cx="1554480" cy="0"/>
          </a:xfrm>
          <a:prstGeom prst="line">
            <a:avLst/>
          </a:prstGeom>
          <a:noFill/>
          <a:ln w="6350">
            <a:solidFill>
              <a:srgbClr val="D9CFC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0" y="3977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Yirik retailer'lar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49440" y="42062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Maxsus shartlar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6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Xaridorlar uchun ilova butunlay bepul, komissiyasiz.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13816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47777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MEBELLAR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6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14400" y="566928"/>
            <a:ext cx="274320" cy="0"/>
          </a:xfrm>
          <a:prstGeom prst="line">
            <a:avLst/>
          </a:prstGeom>
          <a:noFill/>
          <a:ln w="12700">
            <a:solidFill>
              <a:srgbClr val="C66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DAROMAD YO'L XARITASI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Bir daromad oqimi → ko'p oqim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Daromad diversifikatsiyasi V1'dan V3'gacha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56032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20240"/>
            <a:ext cx="2560320" cy="502920"/>
          </a:xfrm>
          <a:prstGeom prst="rect">
            <a:avLst/>
          </a:prstGeom>
          <a:solidFill>
            <a:srgbClr val="8A9A8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37360" y="20848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B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Hozir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Tarif modeli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136392"/>
            <a:ext cx="91440" cy="91440"/>
          </a:xfrm>
          <a:prstGeom prst="ellipse">
            <a:avLst/>
          </a:prstGeom>
          <a:solidFill>
            <a:srgbClr val="8A9A8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017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Sotuvchi tarif obunasi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593592"/>
            <a:ext cx="91440" cy="91440"/>
          </a:xfrm>
          <a:prstGeom prst="ellipse">
            <a:avLst/>
          </a:prstGeom>
          <a:solidFill>
            <a:srgbClr val="8A9A8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4747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pul o'tkazma + skrinshot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050792"/>
            <a:ext cx="91440" cy="91440"/>
          </a:xfrm>
          <a:prstGeom prst="ellipse">
            <a:avLst/>
          </a:prstGeom>
          <a:solidFill>
            <a:srgbClr val="8A9A8C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9319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manual tasdiq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1920240"/>
            <a:ext cx="256032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91840" y="1920240"/>
            <a:ext cx="2560320" cy="502920"/>
          </a:xfrm>
          <a:prstGeom prst="rect">
            <a:avLst/>
          </a:prstGeom>
          <a:solidFill>
            <a:srgbClr val="C66B3D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72000" y="20848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B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3-6 oy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7472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Tranzaksiya komissiyasi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474720" y="3136392"/>
            <a:ext cx="91440" cy="91440"/>
          </a:xfrm>
          <a:prstGeom prst="ellipse">
            <a:avLst/>
          </a:prstGeom>
          <a:solidFill>
            <a:srgbClr val="C66B3D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0" y="3017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To'lov gateway (Click/Payme)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74720" y="3593592"/>
            <a:ext cx="91440" cy="91440"/>
          </a:xfrm>
          <a:prstGeom prst="ellipse">
            <a:avLst/>
          </a:prstGeom>
          <a:solidFill>
            <a:srgbClr val="C66B3D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0" y="34747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Tarif bo'yicha komissiya 2-5%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74720" y="4050792"/>
            <a:ext cx="91440" cy="91440"/>
          </a:xfrm>
          <a:prstGeom prst="ellipse">
            <a:avLst/>
          </a:prstGeom>
          <a:solidFill>
            <a:srgbClr val="C66B3D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0" y="39319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Featured shops (premium slot)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1920240"/>
            <a:ext cx="256032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1920240"/>
            <a:ext cx="2560320" cy="502920"/>
          </a:xfrm>
          <a:prstGeom prst="rect">
            <a:avLst/>
          </a:prstGeom>
          <a:solidFill>
            <a:srgbClr val="2C2520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V3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406640" y="20848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B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6-12 oy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936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Platforma daromadi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09360" y="3136392"/>
            <a:ext cx="91440" cy="91440"/>
          </a:xfrm>
          <a:prstGeom prst="ellipse">
            <a:avLst/>
          </a:prstGeom>
          <a:solidFill>
            <a:srgbClr val="2C2520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0" y="3017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Reklama va promo'l listing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09360" y="3593592"/>
            <a:ext cx="91440" cy="91440"/>
          </a:xfrm>
          <a:prstGeom prst="ellipse">
            <a:avLst/>
          </a:prstGeom>
          <a:solidFill>
            <a:srgbClr val="2C2520"/>
          </a:solidFill>
          <a:ln/>
        </p:spPr>
      </p:sp>
      <p:sp>
        <p:nvSpPr>
          <p:cNvPr id="37" name="Text 35"/>
          <p:cNvSpPr/>
          <p:nvPr/>
        </p:nvSpPr>
        <p:spPr>
          <a:xfrm>
            <a:off x="6492240" y="34747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Markaziy Osiyo bozori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09360" y="4050792"/>
            <a:ext cx="91440" cy="91440"/>
          </a:xfrm>
          <a:prstGeom prst="ellipse">
            <a:avLst/>
          </a:prstGeom>
          <a:solidFill>
            <a:srgbClr val="2C2520"/>
          </a:solidFill>
          <a:ln/>
        </p:spPr>
      </p:sp>
      <p:sp>
        <p:nvSpPr>
          <p:cNvPr id="39" name="Text 37"/>
          <p:cNvSpPr/>
          <p:nvPr/>
        </p:nvSpPr>
        <p:spPr>
          <a:xfrm>
            <a:off x="6492240" y="39319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B2B ulgurji modul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13816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47777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MEBELLAR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6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14400" y="566928"/>
            <a:ext cx="274320" cy="0"/>
          </a:xfrm>
          <a:prstGeom prst="line">
            <a:avLst/>
          </a:prstGeom>
          <a:noFill/>
          <a:ln w="12700">
            <a:solidFill>
              <a:srgbClr val="C66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BOZORGA CHIQISH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Concierge onboarding +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sotuvchi-led growth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331720"/>
            <a:ext cx="502920" cy="502920"/>
          </a:xfrm>
          <a:prstGeom prst="ellipse">
            <a:avLst/>
          </a:prstGeom>
          <a:solidFill>
            <a:srgbClr val="C66B3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45059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3774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SOTUVCHI ACQUISITION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325880" y="2606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plan + concierge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5800" y="301752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68680" y="301752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Telegram/Instagram'da targeted reach — mebel sotuvchilari aud.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85800" y="329184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68680" y="329184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 onboarding — birinchi 100 sotuvchi qo'lda jalb qilinadi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85800" y="356616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68680" y="35661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plan — texnik to'siqni nolga tushiradi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85800" y="384048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68680" y="384048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Verifikatsiya rozetka — ishonchni oshiradi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85800" y="411480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68680" y="41148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tutorial va onboarding wizard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663440" y="2103120"/>
            <a:ext cx="40233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892040" y="2331720"/>
            <a:ext cx="502920" cy="502920"/>
          </a:xfrm>
          <a:prstGeom prst="ellipse">
            <a:avLst/>
          </a:prstGeom>
          <a:solidFill>
            <a:srgbClr val="8A9A8C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2450592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532120" y="23774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XARIDOR ACQUISITION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5532120" y="2606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Sotuvchi-led + SMM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4892040" y="301752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5074920" y="301752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Sotuvchilar o'z xaridorlarini taklif qiladi (referral)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892040" y="329184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5074920" y="329184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Telegram/Instagram targeted ads — mebel xaridorlari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4892040" y="356616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5074920" y="35661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hamkorligi (uy interyer dizaynerlari)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4892040" y="384048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33" name="Text 29"/>
          <p:cNvSpPr/>
          <p:nvPr/>
        </p:nvSpPr>
        <p:spPr>
          <a:xfrm>
            <a:off x="5074920" y="384048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Onlayn-SEO — 'mebel sotib olish O'zbekiston'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4892040" y="411480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35" name="Text 31"/>
          <p:cNvSpPr/>
          <p:nvPr/>
        </p:nvSpPr>
        <p:spPr>
          <a:xfrm>
            <a:off x="5074920" y="41148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Push'lar + referral pul ko'rinishi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457200" y="45720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6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maqsad: 5–10 sotuvchi · 20–30 xaridor → kritik fikr olish va flow optimizatsiyasi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813816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457200" y="47777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MEBELLAR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6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14400" y="566928"/>
            <a:ext cx="274320" cy="0"/>
          </a:xfrm>
          <a:prstGeom prst="line">
            <a:avLst/>
          </a:prstGeom>
          <a:noFill/>
          <a:ln w="12700">
            <a:solidFill>
              <a:srgbClr val="C66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RAQOBAT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Mebellar = niche fokus,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raqobat keng o'rinda yo'q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1828800"/>
                <a:gridCol w="155448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B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Raqobatchi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B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Mebel fokusi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B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Sotuvchi tool'lari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B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Ishonch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B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Tahdid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2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Uzum Market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Sayoz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Yo'q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O'rta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O'rta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Sello / OLX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Yo'q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Yo'q (klassifayd)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Olcha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Yo'q (elektronika)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Yo'q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O'rta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 + Telegram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Yo'q (chalkash)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Yo'q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YUQORI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IKEA, Hoff (offline)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niche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Yuqori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O'rta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B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MEBELLAR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6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B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TO'LIQ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6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B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TO'LIQ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6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B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6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B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6B3D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5720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6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 katta raqib — Instagram. Mebellar uni strukturalashtirilgan, verifikatsiyalangan, tracking bilan almashtiradi.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13816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47777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MEBELLAR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6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14400" y="566928"/>
            <a:ext cx="274320" cy="0"/>
          </a:xfrm>
          <a:prstGeom prst="line">
            <a:avLst/>
          </a:prstGeom>
          <a:noFill/>
          <a:ln w="12700">
            <a:solidFill>
              <a:srgbClr val="C66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JORIY HOLAT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 — kod yozib bo'lingan,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pilot'ga tayyor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217627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560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6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360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548640" y="3108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fayl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(lib/ ostida)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60320" y="201168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217627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60320" y="2560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6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192</a:t>
            </a:r>
            <a:endParaRPr lang="en-US" sz="4200" dirty="0"/>
          </a:p>
        </p:txBody>
      </p:sp>
      <p:sp>
        <p:nvSpPr>
          <p:cNvPr id="13" name="Text 9"/>
          <p:cNvSpPr/>
          <p:nvPr/>
        </p:nvSpPr>
        <p:spPr>
          <a:xfrm>
            <a:off x="2651760" y="3108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Avtomatik test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yashil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663440" y="201168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968" y="2176272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63440" y="2560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6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200" dirty="0"/>
          </a:p>
        </p:txBody>
      </p:sp>
      <p:sp>
        <p:nvSpPr>
          <p:cNvPr id="17" name="Text 12"/>
          <p:cNvSpPr/>
          <p:nvPr/>
        </p:nvSpPr>
        <p:spPr>
          <a:xfrm>
            <a:off x="4754880" y="3108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Statik analiz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766560" y="201168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2176272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66560" y="2560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6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4200" dirty="0"/>
          </a:p>
        </p:txBody>
      </p:sp>
      <p:sp>
        <p:nvSpPr>
          <p:cNvPr id="21" name="Text 15"/>
          <p:cNvSpPr/>
          <p:nvPr/>
        </p:nvSpPr>
        <p:spPr>
          <a:xfrm>
            <a:off x="6858000" y="3108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migration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bilan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457200" y="3794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BAJARILGAN ISH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57200" y="4206240"/>
            <a:ext cx="109728" cy="109728"/>
          </a:xfrm>
          <a:prstGeom prst="ellipse">
            <a:avLst/>
          </a:prstGeom>
          <a:solidFill>
            <a:srgbClr val="8A9A8C"/>
          </a:solidFill>
          <a:ln/>
        </p:spPr>
      </p:sp>
      <p:sp>
        <p:nvSpPr>
          <p:cNvPr id="24" name="Text 18"/>
          <p:cNvSpPr/>
          <p:nvPr/>
        </p:nvSpPr>
        <p:spPr>
          <a:xfrm>
            <a:off x="685800" y="4114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surface to'liq · Seller surface to'liq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663440" y="4206240"/>
            <a:ext cx="109728" cy="109728"/>
          </a:xfrm>
          <a:prstGeom prst="ellipse">
            <a:avLst/>
          </a:prstGeom>
          <a:solidFill>
            <a:srgbClr val="8A9A8C"/>
          </a:solidFill>
          <a:ln/>
        </p:spPr>
      </p:sp>
      <p:sp>
        <p:nvSpPr>
          <p:cNvPr id="26" name="Text 20"/>
          <p:cNvSpPr/>
          <p:nvPr/>
        </p:nvSpPr>
        <p:spPr>
          <a:xfrm>
            <a:off x="4892040" y="4114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email/OTP · KYC verifikatsiya · Onboarding wizard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57200" y="4498848"/>
            <a:ext cx="109728" cy="109728"/>
          </a:xfrm>
          <a:prstGeom prst="ellipse">
            <a:avLst/>
          </a:prstGeom>
          <a:solidFill>
            <a:srgbClr val="8A9A8C"/>
          </a:solidFill>
          <a:ln/>
        </p:spPr>
      </p:sp>
      <p:sp>
        <p:nvSpPr>
          <p:cNvPr id="28" name="Text 22"/>
          <p:cNvSpPr/>
          <p:nvPr/>
        </p:nvSpPr>
        <p:spPr>
          <a:xfrm>
            <a:off x="685800" y="44074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(FCM) · Real-time order tracking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4663440" y="4498848"/>
            <a:ext cx="109728" cy="109728"/>
          </a:xfrm>
          <a:prstGeom prst="ellipse">
            <a:avLst/>
          </a:prstGeom>
          <a:solidFill>
            <a:srgbClr val="8A9A8C"/>
          </a:solidFill>
          <a:ln/>
        </p:spPr>
      </p:sp>
      <p:sp>
        <p:nvSpPr>
          <p:cNvPr id="30" name="Text 24"/>
          <p:cNvSpPr/>
          <p:nvPr/>
        </p:nvSpPr>
        <p:spPr>
          <a:xfrm>
            <a:off x="4892040" y="44074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 / ru / en — 322 kalit, drift 0 · Theming + dual mode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813816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457200" y="47777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MEBELLAR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6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14400" y="566928"/>
            <a:ext cx="274320" cy="0"/>
          </a:xfrm>
          <a:prstGeom prst="line">
            <a:avLst/>
          </a:prstGeom>
          <a:noFill/>
          <a:ln w="12700">
            <a:solidFill>
              <a:srgbClr val="C66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YO'L XARITASI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 → V2 → V3: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O'zbekistondan Markaziy Osiyoga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8229600" cy="54864"/>
          </a:xfrm>
          <a:prstGeom prst="rect">
            <a:avLst/>
          </a:prstGeom>
          <a:solidFill>
            <a:srgbClr val="D9CFC2"/>
          </a:solidFill>
          <a:ln/>
        </p:spPr>
      </p:sp>
      <p:sp>
        <p:nvSpPr>
          <p:cNvPr id="7" name="Shape 5"/>
          <p:cNvSpPr/>
          <p:nvPr/>
        </p:nvSpPr>
        <p:spPr>
          <a:xfrm>
            <a:off x="1417320" y="2377440"/>
            <a:ext cx="228600" cy="228600"/>
          </a:xfrm>
          <a:prstGeom prst="ellipse">
            <a:avLst/>
          </a:prstGeom>
          <a:solidFill>
            <a:srgbClr val="8A9A8C"/>
          </a:solidFill>
          <a:ln w="25400">
            <a:solidFill>
              <a:srgbClr val="FAF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74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A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Launch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Hozir → 1 oy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3520440"/>
            <a:ext cx="91440" cy="91440"/>
          </a:xfrm>
          <a:prstGeom prst="ellipse">
            <a:avLst/>
          </a:prstGeom>
          <a:solidFill>
            <a:srgbClr val="8A9A8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429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SDK rotatsiya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3813048"/>
            <a:ext cx="91440" cy="91440"/>
          </a:xfrm>
          <a:prstGeom prst="ellipse">
            <a:avLst/>
          </a:prstGeom>
          <a:solidFill>
            <a:srgbClr val="8A9A8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721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backend faollashtirish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4105656"/>
            <a:ext cx="91440" cy="91440"/>
          </a:xfrm>
          <a:prstGeom prst="ellipse">
            <a:avLst/>
          </a:prstGeom>
          <a:solidFill>
            <a:srgbClr val="8A9A8C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0142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 sotuvchi pilot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4398264"/>
            <a:ext cx="91440" cy="91440"/>
          </a:xfrm>
          <a:prstGeom prst="ellipse">
            <a:avLst/>
          </a:prstGeom>
          <a:solidFill>
            <a:srgbClr val="8A9A8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3068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hardening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43400" y="2377440"/>
            <a:ext cx="228600" cy="228600"/>
          </a:xfrm>
          <a:prstGeom prst="ellipse">
            <a:avLst/>
          </a:prstGeom>
          <a:solidFill>
            <a:srgbClr val="C66B3D"/>
          </a:solidFill>
          <a:ln w="25400">
            <a:solidFill>
              <a:srgbClr val="FAF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1874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383280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 Launch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383280" y="3063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3-6 oy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20440" y="3520440"/>
            <a:ext cx="91440" cy="91440"/>
          </a:xfrm>
          <a:prstGeom prst="ellipse">
            <a:avLst/>
          </a:prstGeom>
          <a:solidFill>
            <a:srgbClr val="C66B3D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0" y="3429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Click/Payme integratsiya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20440" y="3813048"/>
            <a:ext cx="91440" cy="91440"/>
          </a:xfrm>
          <a:prstGeom prst="ellipse">
            <a:avLst/>
          </a:prstGeom>
          <a:solidFill>
            <a:srgbClr val="C66B3D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0" y="3721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ilova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520440" y="4105656"/>
            <a:ext cx="91440" cy="91440"/>
          </a:xfrm>
          <a:prstGeom prst="ellipse">
            <a:avLst/>
          </a:prstGeom>
          <a:solidFill>
            <a:srgbClr val="C66B3D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0" y="40142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listing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520440" y="4398264"/>
            <a:ext cx="91440" cy="91440"/>
          </a:xfrm>
          <a:prstGeom prst="ellipse">
            <a:avLst/>
          </a:prstGeom>
          <a:solidFill>
            <a:srgbClr val="C66B3D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0" y="43068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MyID + SMS OTP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269480" y="2377440"/>
            <a:ext cx="228600" cy="228600"/>
          </a:xfrm>
          <a:prstGeom prst="ellipse">
            <a:avLst/>
          </a:prstGeom>
          <a:solidFill>
            <a:srgbClr val="2C2520"/>
          </a:solidFill>
          <a:ln w="25400">
            <a:solidFill>
              <a:srgbClr val="FAF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1874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V3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309360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O'sish va Kengayish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309360" y="3063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6-12 oy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46520" y="3520440"/>
            <a:ext cx="91440" cy="91440"/>
          </a:xfrm>
          <a:prstGeom prst="ellipse">
            <a:avLst/>
          </a:prstGeom>
          <a:solidFill>
            <a:srgbClr val="2C2520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3429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Markaziy Osiyo bozori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46520" y="3813048"/>
            <a:ext cx="91440" cy="91440"/>
          </a:xfrm>
          <a:prstGeom prst="ellipse">
            <a:avLst/>
          </a:prstGeom>
          <a:solidFill>
            <a:srgbClr val="2C2520"/>
          </a:solidFill>
          <a:ln/>
        </p:spPr>
      </p:sp>
      <p:sp>
        <p:nvSpPr>
          <p:cNvPr id="38" name="Text 36"/>
          <p:cNvSpPr/>
          <p:nvPr/>
        </p:nvSpPr>
        <p:spPr>
          <a:xfrm>
            <a:off x="6583680" y="3721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ulgurji modul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46520" y="4105656"/>
            <a:ext cx="91440" cy="91440"/>
          </a:xfrm>
          <a:prstGeom prst="ellipse">
            <a:avLst/>
          </a:prstGeom>
          <a:solidFill>
            <a:srgbClr val="2C2520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0" y="40142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Reklama platformasi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46520" y="4398264"/>
            <a:ext cx="91440" cy="91440"/>
          </a:xfrm>
          <a:prstGeom prst="ellipse">
            <a:avLst/>
          </a:prstGeom>
          <a:solidFill>
            <a:srgbClr val="2C2520"/>
          </a:solidFill>
          <a:ln/>
        </p:spPr>
      </p:sp>
      <p:sp>
        <p:nvSpPr>
          <p:cNvPr id="42" name="Text 40"/>
          <p:cNvSpPr/>
          <p:nvPr/>
        </p:nvSpPr>
        <p:spPr>
          <a:xfrm>
            <a:off x="6583680" y="43068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search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13816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47777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MEBELLAR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6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14400" y="566928"/>
            <a:ext cx="274320" cy="0"/>
          </a:xfrm>
          <a:prstGeom prst="line">
            <a:avLst/>
          </a:prstGeom>
          <a:noFill/>
          <a:ln w="12700">
            <a:solidFill>
              <a:srgbClr val="C66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RISKLAR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Halol baholash —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 har birining yumshatish strategiyasi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280160"/>
                <a:gridCol w="37490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B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B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Daraja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B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Yumshatish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2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Sotuvchilar Instagram'dan ko'chmasligi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7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Yuqori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plan · concierge onboarding · video qo'llanma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 factor 1 (yagona muhandis)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7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Yuqori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Hujjatlar to'liq · ikkinchi muhandis qo'shilish prioritet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Universal marketplace mebel'ni kuchaytirishi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68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O'rta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Niche UX afzalligi · mebel-specific feature'lar (size, AR V3)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To'lov gateway integratsiyasi cho'zilishi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68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O'rta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 P2P bilan ishlaydi · V2 gateway alternativ partner'lar tayyor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Verifikatsiya manual jarayoni — scaling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68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O'rta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 MyID integratsiya · admin tooling rivojlantirish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Mahalliy logistika sifati past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F8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Sotuvchining o'z logistikasi · Mebellar inventar tashimaydi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3816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47777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MEBELLAR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6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14400" y="566928"/>
            <a:ext cx="274320" cy="0"/>
          </a:xfrm>
          <a:prstGeom prst="line">
            <a:avLst/>
          </a:prstGeom>
          <a:noFill/>
          <a:ln w="12700">
            <a:solidFill>
              <a:srgbClr val="C66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Jamoa — texnik chuqurlik,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o'sish ehtiyoji bilan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103120"/>
            <a:ext cx="91440" cy="2377440"/>
          </a:xfrm>
          <a:prstGeom prst="rect">
            <a:avLst/>
          </a:prstGeom>
          <a:solidFill>
            <a:srgbClr val="C66B3D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423160"/>
            <a:ext cx="1005840" cy="1005840"/>
          </a:xfrm>
          <a:prstGeom prst="ellipse">
            <a:avLst/>
          </a:prstGeom>
          <a:solidFill>
            <a:srgbClr val="2C252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423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920240" y="24688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DEVELOPER &amp; FOUNDER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20240" y="2697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Eldor Turg'unov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920240" y="3063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@Turgunoff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61188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engineer — Flutter mobil ilova, Supabase backend (Postgres + RLS), CI/CD, DevOps. Mebellar arxitekturasini noldan loyihalashtirgan va yozgan.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103120"/>
            <a:ext cx="4023360" cy="2377440"/>
          </a:xfrm>
          <a:prstGeom prst="rect">
            <a:avLst/>
          </a:prstGeom>
          <a:solidFill>
            <a:srgbClr val="2C2520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A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HOZIRGI BO'SHLIQLAR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26974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Pilot'dan keyin jamoaga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B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qo'shilish prioriteti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937760" y="3447288"/>
            <a:ext cx="164592" cy="164592"/>
          </a:xfrm>
          <a:prstGeom prst="ellipse">
            <a:avLst/>
          </a:prstGeom>
          <a:solidFill>
            <a:srgbClr val="C66B3D"/>
          </a:solidFill>
          <a:ln/>
        </p:spPr>
      </p:sp>
      <p:sp>
        <p:nvSpPr>
          <p:cNvPr id="18" name="Text 16"/>
          <p:cNvSpPr/>
          <p:nvPr/>
        </p:nvSpPr>
        <p:spPr>
          <a:xfrm>
            <a:off x="5166360" y="33832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66360" y="35478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A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Supabase, RLS, Edge Functions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937760" y="3776472"/>
            <a:ext cx="164592" cy="164592"/>
          </a:xfrm>
          <a:prstGeom prst="ellipse">
            <a:avLst/>
          </a:prstGeom>
          <a:solidFill>
            <a:srgbClr val="C66B3D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371246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Designer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66360" y="387705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A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UX iteratsiya, pilot fikrlari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37760" y="4105656"/>
            <a:ext cx="164592" cy="164592"/>
          </a:xfrm>
          <a:prstGeom prst="ellipse">
            <a:avLst/>
          </a:prstGeom>
          <a:solidFill>
            <a:srgbClr val="C66B3D"/>
          </a:solidFill>
          <a:ln/>
        </p:spPr>
      </p:sp>
      <p:sp>
        <p:nvSpPr>
          <p:cNvPr id="24" name="Text 22"/>
          <p:cNvSpPr/>
          <p:nvPr/>
        </p:nvSpPr>
        <p:spPr>
          <a:xfrm>
            <a:off x="5166360" y="404164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Manager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66360" y="420624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A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Sotuvchi concierge onboarding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5445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6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 factor 1 — eng katta risk. Ikkinchi muhandis qo'shilishi investitsiyaning birinchi prioriteti.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13816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7777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MEBELLAR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6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14400" y="566928"/>
            <a:ext cx="274320" cy="0"/>
          </a:xfrm>
          <a:prstGeom prst="line">
            <a:avLst/>
          </a:prstGeom>
          <a:noFill/>
          <a:ln w="12700">
            <a:solidFill>
              <a:srgbClr val="C66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MABLAG' FOYDALANISHI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Investitsiya qayerga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sarflanadi</a:t>
            </a:r>
            <a:endParaRPr lang="en-US" sz="3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920240"/>
          <a:ext cx="38404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480560" y="2103120"/>
            <a:ext cx="182880" cy="274320"/>
          </a:xfrm>
          <a:prstGeom prst="rect">
            <a:avLst/>
          </a:prstGeom>
          <a:solidFill>
            <a:srgbClr val="C66B3D"/>
          </a:solidFill>
          <a:ln/>
        </p:spPr>
      </p:sp>
      <p:sp>
        <p:nvSpPr>
          <p:cNvPr id="8" name="Text 5"/>
          <p:cNvSpPr/>
          <p:nvPr/>
        </p:nvSpPr>
        <p:spPr>
          <a:xfrm>
            <a:off x="4800600" y="2011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40680" y="2011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Ikkinchi muhandis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40680" y="22128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DB engineer (bus factor)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480560" y="2560320"/>
            <a:ext cx="182880" cy="274320"/>
          </a:xfrm>
          <a:prstGeom prst="rect">
            <a:avLst/>
          </a:prstGeom>
          <a:solidFill>
            <a:srgbClr val="8A9A8C"/>
          </a:solidFill>
          <a:ln/>
        </p:spPr>
      </p:sp>
      <p:sp>
        <p:nvSpPr>
          <p:cNvPr id="12" name="Text 9"/>
          <p:cNvSpPr/>
          <p:nvPr/>
        </p:nvSpPr>
        <p:spPr>
          <a:xfrm>
            <a:off x="4800600" y="2468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40680" y="2468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va SMM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40680" y="26700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Telegram/Instagram targeted ads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480560" y="3017520"/>
            <a:ext cx="182880" cy="274320"/>
          </a:xfrm>
          <a:prstGeom prst="rect">
            <a:avLst/>
          </a:prstGeom>
          <a:solidFill>
            <a:srgbClr val="E8A584"/>
          </a:solidFill>
          <a:ln/>
        </p:spPr>
      </p:sp>
      <p:sp>
        <p:nvSpPr>
          <p:cNvPr id="16" name="Text 13"/>
          <p:cNvSpPr/>
          <p:nvPr/>
        </p:nvSpPr>
        <p:spPr>
          <a:xfrm>
            <a:off x="4800600" y="2926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440680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Sotuvchi concierge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40680" y="31272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Birinchi 100 sotuvchi qo'lda onboarding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480560" y="3474720"/>
            <a:ext cx="182880" cy="274320"/>
          </a:xfrm>
          <a:prstGeom prst="rect">
            <a:avLst/>
          </a:prstGeom>
          <a:solidFill>
            <a:srgbClr val="B49B85"/>
          </a:solidFill>
          <a:ln/>
        </p:spPr>
      </p:sp>
      <p:sp>
        <p:nvSpPr>
          <p:cNvPr id="20" name="Text 17"/>
          <p:cNvSpPr/>
          <p:nvPr/>
        </p:nvSpPr>
        <p:spPr>
          <a:xfrm>
            <a:off x="4800600" y="3383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44068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 menejeri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40680" y="35844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iteratsiya · pilot fikrlari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480560" y="3931920"/>
            <a:ext cx="182880" cy="274320"/>
          </a:xfrm>
          <a:prstGeom prst="rect">
            <a:avLst/>
          </a:prstGeom>
          <a:solidFill>
            <a:srgbClr val="78706B"/>
          </a:solidFill>
          <a:ln/>
        </p:spPr>
      </p:sp>
      <p:sp>
        <p:nvSpPr>
          <p:cNvPr id="24" name="Text 21"/>
          <p:cNvSpPr/>
          <p:nvPr/>
        </p:nvSpPr>
        <p:spPr>
          <a:xfrm>
            <a:off x="4800600" y="3840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44068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xarajatlari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440680" y="40416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Pro · FCM · Yandex API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480560" y="4389120"/>
            <a:ext cx="182880" cy="274320"/>
          </a:xfrm>
          <a:prstGeom prst="rect">
            <a:avLst/>
          </a:prstGeom>
          <a:solidFill>
            <a:srgbClr val="3D332E"/>
          </a:solidFill>
          <a:ln/>
        </p:spPr>
      </p:sp>
      <p:sp>
        <p:nvSpPr>
          <p:cNvPr id="28" name="Text 25"/>
          <p:cNvSpPr/>
          <p:nvPr/>
        </p:nvSpPr>
        <p:spPr>
          <a:xfrm>
            <a:off x="4800600" y="4297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440680" y="4297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+ yuridik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440680" y="44988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Click/Payme sertifikatsiya · ToS yurist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6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Tezroq pilot · ikkinchi muhandis · marketing kanali — investitsiyaning yadrosi.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813816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57200" y="47777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8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MEBELLAR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2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8A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YAKUNIY SO'Z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B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Mebellar bilan birga
</a:t>
            </a:r>
            <a:pPr indent="0" marL="0">
              <a:buNone/>
            </a:pPr>
            <a:r>
              <a:rPr lang="en-US" sz="4200" b="1" dirty="0">
                <a:solidFill>
                  <a:srgbClr val="FB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mebel bozorini
</a:t>
            </a:r>
            <a:pPr indent="0" marL="0">
              <a:buNone/>
            </a:pPr>
            <a:r>
              <a:rPr lang="en-US" sz="4200" b="1" i="1" dirty="0">
                <a:solidFill>
                  <a:srgbClr val="C6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qaytadan yarata olamiz.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457200" y="3108960"/>
            <a:ext cx="502920" cy="502920"/>
          </a:xfrm>
          <a:prstGeom prst="ellipse">
            <a:avLst/>
          </a:prstGeom>
          <a:solidFill>
            <a:srgbClr val="C66B3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3227832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3108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Tayyor mahsulot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51560" y="3383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yozib bo'lingan · pilot'ga tayyor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91840" y="3108960"/>
            <a:ext cx="502920" cy="502920"/>
          </a:xfrm>
          <a:prstGeom prst="ellipse">
            <a:avLst/>
          </a:prstGeom>
          <a:solidFill>
            <a:srgbClr val="C66B3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322783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86200" y="3108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Bo'sh niche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886200" y="3383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Mebel'ga ixtisoslashgan raqib yo'q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126480" y="3108960"/>
            <a:ext cx="502920" cy="502920"/>
          </a:xfrm>
          <a:prstGeom prst="ellipse">
            <a:avLst/>
          </a:prstGeom>
          <a:solidFill>
            <a:srgbClr val="C66B3D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3227832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20840" y="3108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Skalalanadigan model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720840" y="3383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CAPEX · ko'p daromad oqimi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4480560"/>
            <a:ext cx="8229600" cy="0"/>
          </a:xfrm>
          <a:prstGeom prst="line">
            <a:avLst/>
          </a:prstGeom>
          <a:noFill/>
          <a:ln w="6350">
            <a:solidFill>
              <a:srgbClr val="C66B3D">
                <a:alpha val="5000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A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Bog'lanish uchun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B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Eldor Turg'unov · @Turgunoff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217920" y="4572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spc="600" kern="0" dirty="0">
                <a:solidFill>
                  <a:srgbClr val="C6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RAHMAT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Mebellar — Investor Pitch Deck</dc:title>
  <dc:subject>PptxGenJS Presentation</dc:subject>
  <dc:creator>Eldor Turg'unov</dc:creator>
  <cp:lastModifiedBy>Eldor Turg'unov</cp:lastModifiedBy>
  <cp:revision>1</cp:revision>
  <dcterms:created xsi:type="dcterms:W3CDTF">2026-05-20T06:27:04Z</dcterms:created>
  <dcterms:modified xsi:type="dcterms:W3CDTF">2026-05-20T06:27:04Z</dcterms:modified>
</cp:coreProperties>
</file>